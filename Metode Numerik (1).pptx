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agnolia Script" charset="1" panose="02000503070000020003"/>
      <p:regular r:id="rId18"/>
    </p:embeddedFont>
    <p:embeddedFont>
      <p:font typeface="DM San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png" Type="http://schemas.openxmlformats.org/officeDocument/2006/relationships/image"/><Relationship Id="rId7"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2.png" Type="http://schemas.openxmlformats.org/officeDocument/2006/relationships/image"/><Relationship Id="rId7"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301047" y="-362526"/>
            <a:ext cx="3845468" cy="4114800"/>
          </a:xfrm>
          <a:custGeom>
            <a:avLst/>
            <a:gdLst/>
            <a:ahLst/>
            <a:cxnLst/>
            <a:rect r="r" b="b" t="t" l="l"/>
            <a:pathLst>
              <a:path h="4114800" w="3845468">
                <a:moveTo>
                  <a:pt x="0" y="4114800"/>
                </a:moveTo>
                <a:lnTo>
                  <a:pt x="3845467" y="4114800"/>
                </a:lnTo>
                <a:lnTo>
                  <a:pt x="384546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4743580" y="-362526"/>
            <a:ext cx="3845468" cy="4114800"/>
          </a:xfrm>
          <a:custGeom>
            <a:avLst/>
            <a:gdLst/>
            <a:ahLst/>
            <a:cxnLst/>
            <a:rect r="r" b="b" t="t" l="l"/>
            <a:pathLst>
              <a:path h="4114800" w="3845468">
                <a:moveTo>
                  <a:pt x="3845467" y="4114800"/>
                </a:moveTo>
                <a:lnTo>
                  <a:pt x="0" y="4114800"/>
                </a:lnTo>
                <a:lnTo>
                  <a:pt x="0" y="0"/>
                </a:lnTo>
                <a:lnTo>
                  <a:pt x="3845467" y="0"/>
                </a:lnTo>
                <a:lnTo>
                  <a:pt x="3845467"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591008" y="5727383"/>
            <a:ext cx="9582192" cy="1412210"/>
          </a:xfrm>
          <a:prstGeom prst="rect">
            <a:avLst/>
          </a:prstGeom>
        </p:spPr>
        <p:txBody>
          <a:bodyPr anchor="t" rtlCol="false" tIns="0" lIns="0" bIns="0" rIns="0">
            <a:spAutoFit/>
          </a:bodyPr>
          <a:lstStyle/>
          <a:p>
            <a:pPr algn="ctr">
              <a:lnSpc>
                <a:spcPts val="11501"/>
              </a:lnSpc>
            </a:pPr>
            <a:r>
              <a:rPr lang="en-US" sz="8215">
                <a:solidFill>
                  <a:srgbClr val="403D46"/>
                </a:solidFill>
                <a:latin typeface="Magnolia Script"/>
                <a:ea typeface="Magnolia Script"/>
                <a:cs typeface="Magnolia Script"/>
                <a:sym typeface="Magnolia Script"/>
              </a:rPr>
              <a:t>Metode Numerik</a:t>
            </a:r>
          </a:p>
        </p:txBody>
      </p:sp>
      <p:grpSp>
        <p:nvGrpSpPr>
          <p:cNvPr name="Group 7" id="7"/>
          <p:cNvGrpSpPr/>
          <p:nvPr/>
        </p:nvGrpSpPr>
        <p:grpSpPr>
          <a:xfrm rot="0">
            <a:off x="8193302" y="1028700"/>
            <a:ext cx="2815636" cy="281563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p:spPr>
        </p:sp>
      </p:grpSp>
      <p:sp>
        <p:nvSpPr>
          <p:cNvPr name="TextBox 9" id="9"/>
          <p:cNvSpPr txBox="true"/>
          <p:nvPr/>
        </p:nvSpPr>
        <p:spPr>
          <a:xfrm rot="0">
            <a:off x="3845450" y="3879291"/>
            <a:ext cx="11511339" cy="1692500"/>
          </a:xfrm>
          <a:prstGeom prst="rect">
            <a:avLst/>
          </a:prstGeom>
        </p:spPr>
        <p:txBody>
          <a:bodyPr anchor="t" rtlCol="false" tIns="0" lIns="0" bIns="0" rIns="0">
            <a:spAutoFit/>
          </a:bodyPr>
          <a:lstStyle/>
          <a:p>
            <a:pPr algn="ctr">
              <a:lnSpc>
                <a:spcPts val="13817"/>
              </a:lnSpc>
            </a:pPr>
            <a:r>
              <a:rPr lang="en-US" sz="9869">
                <a:solidFill>
                  <a:srgbClr val="403D46"/>
                </a:solidFill>
                <a:latin typeface="Magnolia Script"/>
                <a:ea typeface="Magnolia Script"/>
                <a:cs typeface="Magnolia Script"/>
                <a:sym typeface="Magnolia Script"/>
              </a:rPr>
              <a:t>Matana university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5129435" y="3510880"/>
            <a:ext cx="8029129" cy="1898952"/>
          </a:xfrm>
          <a:prstGeom prst="rect">
            <a:avLst/>
          </a:prstGeom>
        </p:spPr>
        <p:txBody>
          <a:bodyPr anchor="t" rtlCol="false" tIns="0" lIns="0" bIns="0" rIns="0">
            <a:spAutoFit/>
          </a:bodyPr>
          <a:lstStyle/>
          <a:p>
            <a:pPr algn="ctr">
              <a:lnSpc>
                <a:spcPts val="7683"/>
              </a:lnSpc>
            </a:pPr>
            <a:r>
              <a:rPr lang="en-US" sz="5488">
                <a:solidFill>
                  <a:srgbClr val="20140D"/>
                </a:solidFill>
                <a:latin typeface="DM Sans"/>
                <a:ea typeface="DM Sans"/>
                <a:cs typeface="DM Sans"/>
                <a:sym typeface="DM Sans"/>
              </a:rPr>
              <a:t>Naufal Fadhlullah</a:t>
            </a:r>
          </a:p>
          <a:p>
            <a:pPr algn="ctr">
              <a:lnSpc>
                <a:spcPts val="7683"/>
              </a:lnSpc>
            </a:pPr>
            <a:r>
              <a:rPr lang="en-US" sz="5488">
                <a:solidFill>
                  <a:srgbClr val="20140D"/>
                </a:solidFill>
                <a:latin typeface="DM Sans"/>
                <a:ea typeface="DM Sans"/>
                <a:cs typeface="DM Sans"/>
                <a:sym typeface="DM Sans"/>
              </a:rPr>
              <a:t>20234920001</a:t>
            </a:r>
          </a:p>
        </p:txBody>
      </p:sp>
      <p:sp>
        <p:nvSpPr>
          <p:cNvPr name="Freeform 3" id="3"/>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14900853" y="-907030"/>
            <a:ext cx="2659494" cy="4114800"/>
          </a:xfrm>
          <a:custGeom>
            <a:avLst/>
            <a:gdLst/>
            <a:ahLst/>
            <a:cxnLst/>
            <a:rect r="r" b="b" t="t" l="l"/>
            <a:pathLst>
              <a:path h="4114800" w="2659494">
                <a:moveTo>
                  <a:pt x="0" y="0"/>
                </a:moveTo>
                <a:lnTo>
                  <a:pt x="2659494" y="0"/>
                </a:lnTo>
                <a:lnTo>
                  <a:pt x="26594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5400000">
            <a:off x="560350" y="-907030"/>
            <a:ext cx="2659494" cy="4114800"/>
          </a:xfrm>
          <a:custGeom>
            <a:avLst/>
            <a:gdLst/>
            <a:ahLst/>
            <a:cxnLst/>
            <a:rect r="r" b="b" t="t" l="l"/>
            <a:pathLst>
              <a:path h="4114800" w="2659494">
                <a:moveTo>
                  <a:pt x="0" y="4114800"/>
                </a:moveTo>
                <a:lnTo>
                  <a:pt x="2659495" y="4114800"/>
                </a:lnTo>
                <a:lnTo>
                  <a:pt x="265949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511953" y="1336591"/>
            <a:ext cx="2152232" cy="1250686"/>
          </a:xfrm>
          <a:custGeom>
            <a:avLst/>
            <a:gdLst/>
            <a:ahLst/>
            <a:cxnLst/>
            <a:rect r="r" b="b" t="t" l="l"/>
            <a:pathLst>
              <a:path h="1250686" w="2152232">
                <a:moveTo>
                  <a:pt x="0" y="0"/>
                </a:moveTo>
                <a:lnTo>
                  <a:pt x="2152232" y="0"/>
                </a:lnTo>
                <a:lnTo>
                  <a:pt x="2152232" y="1250686"/>
                </a:lnTo>
                <a:lnTo>
                  <a:pt x="0" y="12506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23119" y="8147250"/>
            <a:ext cx="1911941" cy="1111050"/>
          </a:xfrm>
          <a:custGeom>
            <a:avLst/>
            <a:gdLst/>
            <a:ahLst/>
            <a:cxnLst/>
            <a:rect r="r" b="b" t="t" l="l"/>
            <a:pathLst>
              <a:path h="1111050" w="1911941">
                <a:moveTo>
                  <a:pt x="0" y="0"/>
                </a:moveTo>
                <a:lnTo>
                  <a:pt x="1911941" y="0"/>
                </a:lnTo>
                <a:lnTo>
                  <a:pt x="1911941" y="1111050"/>
                </a:lnTo>
                <a:lnTo>
                  <a:pt x="0" y="1111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129435" y="2075951"/>
            <a:ext cx="8029129" cy="927402"/>
          </a:xfrm>
          <a:prstGeom prst="rect">
            <a:avLst/>
          </a:prstGeom>
        </p:spPr>
        <p:txBody>
          <a:bodyPr anchor="t" rtlCol="false" tIns="0" lIns="0" bIns="0" rIns="0">
            <a:spAutoFit/>
          </a:bodyPr>
          <a:lstStyle/>
          <a:p>
            <a:pPr algn="ctr">
              <a:lnSpc>
                <a:spcPts val="7683"/>
              </a:lnSpc>
            </a:pPr>
            <a:r>
              <a:rPr lang="en-US" sz="5488">
                <a:solidFill>
                  <a:srgbClr val="20140D"/>
                </a:solidFill>
                <a:latin typeface="DM Sans"/>
                <a:ea typeface="DM Sans"/>
                <a:cs typeface="DM Sans"/>
                <a:sym typeface="DM Sans"/>
              </a:rPr>
              <a:t>Nama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3970914" y="4328609"/>
            <a:ext cx="10857477" cy="3702050"/>
          </a:xfrm>
          <a:prstGeom prst="rect">
            <a:avLst/>
          </a:prstGeom>
        </p:spPr>
        <p:txBody>
          <a:bodyPr anchor="t" rtlCol="false" tIns="0" lIns="0" bIns="0" rIns="0">
            <a:spAutoFit/>
          </a:bodyPr>
          <a:lstStyle/>
          <a:p>
            <a:pPr algn="just">
              <a:lnSpc>
                <a:spcPts val="4900"/>
              </a:lnSpc>
            </a:pPr>
            <a:r>
              <a:rPr lang="en-US" sz="3500">
                <a:solidFill>
                  <a:srgbClr val="20140D"/>
                </a:solidFill>
                <a:latin typeface="DM Sans"/>
                <a:ea typeface="DM Sans"/>
                <a:cs typeface="DM Sans"/>
                <a:sym typeface="DM Sans"/>
              </a:rPr>
              <a:t>Bisection Method merupakan suatu metode numerik yang digunakan dalam mencari solusi akar pada persamaan polimonial (Mulyono, 2022). metode ini mencari akar suatu fungsi dengan menetapkan batas interval yang dimana interval tersebut memuat nilai yang akan dicari (Laoli, 2024)</a:t>
            </a:r>
          </a:p>
        </p:txBody>
      </p:sp>
      <p:sp>
        <p:nvSpPr>
          <p:cNvPr name="Freeform 3" id="3"/>
          <p:cNvSpPr/>
          <p:nvPr/>
        </p:nvSpPr>
        <p:spPr>
          <a:xfrm flipH="false" flipV="false" rot="0">
            <a:off x="5486400" y="1937328"/>
            <a:ext cx="7315200" cy="1803417"/>
          </a:xfrm>
          <a:custGeom>
            <a:avLst/>
            <a:gdLst/>
            <a:ahLst/>
            <a:cxnLst/>
            <a:rect r="r" b="b" t="t" l="l"/>
            <a:pathLst>
              <a:path h="1803417" w="7315200">
                <a:moveTo>
                  <a:pt x="0" y="0"/>
                </a:moveTo>
                <a:lnTo>
                  <a:pt x="7315200" y="0"/>
                </a:lnTo>
                <a:lnTo>
                  <a:pt x="7315200" y="1803417"/>
                </a:lnTo>
                <a:lnTo>
                  <a:pt x="0" y="180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486400" y="2178584"/>
            <a:ext cx="7274705" cy="1185489"/>
          </a:xfrm>
          <a:prstGeom prst="rect">
            <a:avLst/>
          </a:prstGeom>
        </p:spPr>
        <p:txBody>
          <a:bodyPr anchor="t" rtlCol="false" tIns="0" lIns="0" bIns="0" rIns="0">
            <a:spAutoFit/>
          </a:bodyPr>
          <a:lstStyle/>
          <a:p>
            <a:pPr algn="ctr">
              <a:lnSpc>
                <a:spcPts val="9733"/>
              </a:lnSpc>
            </a:pPr>
            <a:r>
              <a:rPr lang="en-US" sz="6952">
                <a:solidFill>
                  <a:srgbClr val="20140D"/>
                </a:solidFill>
                <a:latin typeface="Magnolia Script"/>
                <a:ea typeface="Magnolia Script"/>
                <a:cs typeface="Magnolia Script"/>
                <a:sym typeface="Magnolia Script"/>
              </a:rPr>
              <a:t>Bisection Method</a:t>
            </a:r>
          </a:p>
        </p:txBody>
      </p:sp>
      <p:sp>
        <p:nvSpPr>
          <p:cNvPr name="Freeform 5" id="5"/>
          <p:cNvSpPr/>
          <p:nvPr/>
        </p:nvSpPr>
        <p:spPr>
          <a:xfrm flipH="false" flipV="true" rot="0">
            <a:off x="0" y="0"/>
            <a:ext cx="2992005" cy="3201562"/>
          </a:xfrm>
          <a:custGeom>
            <a:avLst/>
            <a:gdLst/>
            <a:ahLst/>
            <a:cxnLst/>
            <a:rect r="r" b="b" t="t" l="l"/>
            <a:pathLst>
              <a:path h="3201562" w="2992005">
                <a:moveTo>
                  <a:pt x="0" y="3201562"/>
                </a:moveTo>
                <a:lnTo>
                  <a:pt x="2992005" y="3201562"/>
                </a:lnTo>
                <a:lnTo>
                  <a:pt x="2992005" y="0"/>
                </a:lnTo>
                <a:lnTo>
                  <a:pt x="0" y="0"/>
                </a:lnTo>
                <a:lnTo>
                  <a:pt x="0" y="32015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297150" y="7064353"/>
            <a:ext cx="3291897" cy="3522458"/>
          </a:xfrm>
          <a:custGeom>
            <a:avLst/>
            <a:gdLst/>
            <a:ahLst/>
            <a:cxnLst/>
            <a:rect r="r" b="b" t="t" l="l"/>
            <a:pathLst>
              <a:path h="3522458" w="3291897">
                <a:moveTo>
                  <a:pt x="3291897" y="0"/>
                </a:moveTo>
                <a:lnTo>
                  <a:pt x="0" y="0"/>
                </a:lnTo>
                <a:lnTo>
                  <a:pt x="0" y="3522458"/>
                </a:lnTo>
                <a:lnTo>
                  <a:pt x="3291897" y="3522458"/>
                </a:lnTo>
                <a:lnTo>
                  <a:pt x="329189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01047" y="7064353"/>
            <a:ext cx="3293053" cy="3523694"/>
          </a:xfrm>
          <a:custGeom>
            <a:avLst/>
            <a:gdLst/>
            <a:ahLst/>
            <a:cxnLst/>
            <a:rect r="r" b="b" t="t" l="l"/>
            <a:pathLst>
              <a:path h="3523694" w="3293053">
                <a:moveTo>
                  <a:pt x="0" y="0"/>
                </a:moveTo>
                <a:lnTo>
                  <a:pt x="3293052" y="0"/>
                </a:lnTo>
                <a:lnTo>
                  <a:pt x="3293052" y="3523694"/>
                </a:lnTo>
                <a:lnTo>
                  <a:pt x="0" y="35236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true" rot="0">
            <a:off x="15297150" y="-160448"/>
            <a:ext cx="3291897" cy="3522458"/>
          </a:xfrm>
          <a:custGeom>
            <a:avLst/>
            <a:gdLst/>
            <a:ahLst/>
            <a:cxnLst/>
            <a:rect r="r" b="b" t="t" l="l"/>
            <a:pathLst>
              <a:path h="3522458" w="3291897">
                <a:moveTo>
                  <a:pt x="3291897" y="3522458"/>
                </a:moveTo>
                <a:lnTo>
                  <a:pt x="0" y="3522458"/>
                </a:lnTo>
                <a:lnTo>
                  <a:pt x="0" y="0"/>
                </a:lnTo>
                <a:lnTo>
                  <a:pt x="3291897" y="0"/>
                </a:lnTo>
                <a:lnTo>
                  <a:pt x="3291897" y="352245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297150" y="1600781"/>
            <a:ext cx="1325708" cy="770384"/>
          </a:xfrm>
          <a:custGeom>
            <a:avLst/>
            <a:gdLst/>
            <a:ahLst/>
            <a:cxnLst/>
            <a:rect r="r" b="b" t="t" l="l"/>
            <a:pathLst>
              <a:path h="770384" w="1325708">
                <a:moveTo>
                  <a:pt x="0" y="0"/>
                </a:moveTo>
                <a:lnTo>
                  <a:pt x="1325708" y="0"/>
                </a:lnTo>
                <a:lnTo>
                  <a:pt x="1325708" y="770384"/>
                </a:lnTo>
                <a:lnTo>
                  <a:pt x="0" y="770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818681" y="7979577"/>
            <a:ext cx="1455839" cy="846004"/>
          </a:xfrm>
          <a:custGeom>
            <a:avLst/>
            <a:gdLst/>
            <a:ahLst/>
            <a:cxnLst/>
            <a:rect r="r" b="b" t="t" l="l"/>
            <a:pathLst>
              <a:path h="846004" w="1455839">
                <a:moveTo>
                  <a:pt x="0" y="0"/>
                </a:moveTo>
                <a:lnTo>
                  <a:pt x="1455840" y="0"/>
                </a:lnTo>
                <a:lnTo>
                  <a:pt x="1455840" y="846005"/>
                </a:lnTo>
                <a:lnTo>
                  <a:pt x="0" y="8460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3970914" y="4328609"/>
            <a:ext cx="10857477" cy="3082925"/>
          </a:xfrm>
          <a:prstGeom prst="rect">
            <a:avLst/>
          </a:prstGeom>
        </p:spPr>
        <p:txBody>
          <a:bodyPr anchor="t" rtlCol="false" tIns="0" lIns="0" bIns="0" rIns="0">
            <a:spAutoFit/>
          </a:bodyPr>
          <a:lstStyle/>
          <a:p>
            <a:pPr algn="just">
              <a:lnSpc>
                <a:spcPts val="4900"/>
              </a:lnSpc>
            </a:pPr>
            <a:r>
              <a:rPr lang="en-US" sz="3500">
                <a:solidFill>
                  <a:srgbClr val="20140D"/>
                </a:solidFill>
                <a:latin typeface="DM Sans"/>
                <a:ea typeface="DM Sans"/>
                <a:cs typeface="DM Sans"/>
                <a:sym typeface="DM Sans"/>
              </a:rPr>
              <a:t>Bisection Method digunakan dalam banyak hal dalam rekayasa sipil, seperti mendisain suatu elemen pada struktur beton (Kamaludin, 2017) dan Pembuatan Diagram Interaksi Kolom Beton Bertulang</a:t>
            </a:r>
          </a:p>
          <a:p>
            <a:pPr algn="just">
              <a:lnSpc>
                <a:spcPts val="4900"/>
              </a:lnSpc>
            </a:pPr>
            <a:r>
              <a:rPr lang="en-US" sz="3500">
                <a:solidFill>
                  <a:srgbClr val="20140D"/>
                </a:solidFill>
                <a:latin typeface="DM Sans"/>
                <a:ea typeface="DM Sans"/>
                <a:cs typeface="DM Sans"/>
                <a:sym typeface="DM Sans"/>
              </a:rPr>
              <a:t>(Guspari, 2007)</a:t>
            </a:r>
          </a:p>
        </p:txBody>
      </p:sp>
      <p:sp>
        <p:nvSpPr>
          <p:cNvPr name="Freeform 3" id="3"/>
          <p:cNvSpPr/>
          <p:nvPr/>
        </p:nvSpPr>
        <p:spPr>
          <a:xfrm flipH="false" flipV="false" rot="0">
            <a:off x="5486400" y="1937328"/>
            <a:ext cx="7315200" cy="1803417"/>
          </a:xfrm>
          <a:custGeom>
            <a:avLst/>
            <a:gdLst/>
            <a:ahLst/>
            <a:cxnLst/>
            <a:rect r="r" b="b" t="t" l="l"/>
            <a:pathLst>
              <a:path h="1803417" w="7315200">
                <a:moveTo>
                  <a:pt x="0" y="0"/>
                </a:moveTo>
                <a:lnTo>
                  <a:pt x="7315200" y="0"/>
                </a:lnTo>
                <a:lnTo>
                  <a:pt x="7315200" y="1803417"/>
                </a:lnTo>
                <a:lnTo>
                  <a:pt x="0" y="180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486400" y="2178584"/>
            <a:ext cx="7274705" cy="1185489"/>
          </a:xfrm>
          <a:prstGeom prst="rect">
            <a:avLst/>
          </a:prstGeom>
        </p:spPr>
        <p:txBody>
          <a:bodyPr anchor="t" rtlCol="false" tIns="0" lIns="0" bIns="0" rIns="0">
            <a:spAutoFit/>
          </a:bodyPr>
          <a:lstStyle/>
          <a:p>
            <a:pPr algn="ctr">
              <a:lnSpc>
                <a:spcPts val="9733"/>
              </a:lnSpc>
            </a:pPr>
            <a:r>
              <a:rPr lang="en-US" sz="6952">
                <a:solidFill>
                  <a:srgbClr val="20140D"/>
                </a:solidFill>
                <a:latin typeface="Magnolia Script"/>
                <a:ea typeface="Magnolia Script"/>
                <a:cs typeface="Magnolia Script"/>
                <a:sym typeface="Magnolia Script"/>
              </a:rPr>
              <a:t>Penerapan</a:t>
            </a:r>
          </a:p>
        </p:txBody>
      </p:sp>
      <p:sp>
        <p:nvSpPr>
          <p:cNvPr name="Freeform 5" id="5"/>
          <p:cNvSpPr/>
          <p:nvPr/>
        </p:nvSpPr>
        <p:spPr>
          <a:xfrm flipH="false" flipV="true" rot="0">
            <a:off x="0" y="0"/>
            <a:ext cx="2992005" cy="3201562"/>
          </a:xfrm>
          <a:custGeom>
            <a:avLst/>
            <a:gdLst/>
            <a:ahLst/>
            <a:cxnLst/>
            <a:rect r="r" b="b" t="t" l="l"/>
            <a:pathLst>
              <a:path h="3201562" w="2992005">
                <a:moveTo>
                  <a:pt x="0" y="3201562"/>
                </a:moveTo>
                <a:lnTo>
                  <a:pt x="2992005" y="3201562"/>
                </a:lnTo>
                <a:lnTo>
                  <a:pt x="2992005" y="0"/>
                </a:lnTo>
                <a:lnTo>
                  <a:pt x="0" y="0"/>
                </a:lnTo>
                <a:lnTo>
                  <a:pt x="0" y="32015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297150" y="7064353"/>
            <a:ext cx="3291897" cy="3522458"/>
          </a:xfrm>
          <a:custGeom>
            <a:avLst/>
            <a:gdLst/>
            <a:ahLst/>
            <a:cxnLst/>
            <a:rect r="r" b="b" t="t" l="l"/>
            <a:pathLst>
              <a:path h="3522458" w="3291897">
                <a:moveTo>
                  <a:pt x="3291897" y="0"/>
                </a:moveTo>
                <a:lnTo>
                  <a:pt x="0" y="0"/>
                </a:lnTo>
                <a:lnTo>
                  <a:pt x="0" y="3522458"/>
                </a:lnTo>
                <a:lnTo>
                  <a:pt x="3291897" y="3522458"/>
                </a:lnTo>
                <a:lnTo>
                  <a:pt x="329189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01047" y="7064353"/>
            <a:ext cx="3293053" cy="3523694"/>
          </a:xfrm>
          <a:custGeom>
            <a:avLst/>
            <a:gdLst/>
            <a:ahLst/>
            <a:cxnLst/>
            <a:rect r="r" b="b" t="t" l="l"/>
            <a:pathLst>
              <a:path h="3523694" w="3293053">
                <a:moveTo>
                  <a:pt x="0" y="0"/>
                </a:moveTo>
                <a:lnTo>
                  <a:pt x="3293052" y="0"/>
                </a:lnTo>
                <a:lnTo>
                  <a:pt x="3293052" y="3523694"/>
                </a:lnTo>
                <a:lnTo>
                  <a:pt x="0" y="35236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true" rot="0">
            <a:off x="15297150" y="-160448"/>
            <a:ext cx="3291897" cy="3522458"/>
          </a:xfrm>
          <a:custGeom>
            <a:avLst/>
            <a:gdLst/>
            <a:ahLst/>
            <a:cxnLst/>
            <a:rect r="r" b="b" t="t" l="l"/>
            <a:pathLst>
              <a:path h="3522458" w="3291897">
                <a:moveTo>
                  <a:pt x="3291897" y="3522458"/>
                </a:moveTo>
                <a:lnTo>
                  <a:pt x="0" y="3522458"/>
                </a:lnTo>
                <a:lnTo>
                  <a:pt x="0" y="0"/>
                </a:lnTo>
                <a:lnTo>
                  <a:pt x="3291897" y="0"/>
                </a:lnTo>
                <a:lnTo>
                  <a:pt x="3291897" y="352245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297150" y="1600781"/>
            <a:ext cx="1325708" cy="770384"/>
          </a:xfrm>
          <a:custGeom>
            <a:avLst/>
            <a:gdLst/>
            <a:ahLst/>
            <a:cxnLst/>
            <a:rect r="r" b="b" t="t" l="l"/>
            <a:pathLst>
              <a:path h="770384" w="1325708">
                <a:moveTo>
                  <a:pt x="0" y="0"/>
                </a:moveTo>
                <a:lnTo>
                  <a:pt x="1325708" y="0"/>
                </a:lnTo>
                <a:lnTo>
                  <a:pt x="1325708" y="770384"/>
                </a:lnTo>
                <a:lnTo>
                  <a:pt x="0" y="7703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818681" y="7979577"/>
            <a:ext cx="1455839" cy="846004"/>
          </a:xfrm>
          <a:custGeom>
            <a:avLst/>
            <a:gdLst/>
            <a:ahLst/>
            <a:cxnLst/>
            <a:rect r="r" b="b" t="t" l="l"/>
            <a:pathLst>
              <a:path h="846004" w="1455839">
                <a:moveTo>
                  <a:pt x="0" y="0"/>
                </a:moveTo>
                <a:lnTo>
                  <a:pt x="1455840" y="0"/>
                </a:lnTo>
                <a:lnTo>
                  <a:pt x="1455840" y="846005"/>
                </a:lnTo>
                <a:lnTo>
                  <a:pt x="0" y="8460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4900853" y="-907030"/>
            <a:ext cx="2659494" cy="4114800"/>
          </a:xfrm>
          <a:custGeom>
            <a:avLst/>
            <a:gdLst/>
            <a:ahLst/>
            <a:cxnLst/>
            <a:rect r="r" b="b" t="t" l="l"/>
            <a:pathLst>
              <a:path h="4114800" w="2659494">
                <a:moveTo>
                  <a:pt x="0" y="0"/>
                </a:moveTo>
                <a:lnTo>
                  <a:pt x="2659494" y="0"/>
                </a:lnTo>
                <a:lnTo>
                  <a:pt x="26594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560350" y="-907030"/>
            <a:ext cx="2659494" cy="4114800"/>
          </a:xfrm>
          <a:custGeom>
            <a:avLst/>
            <a:gdLst/>
            <a:ahLst/>
            <a:cxnLst/>
            <a:rect r="r" b="b" t="t" l="l"/>
            <a:pathLst>
              <a:path h="4114800" w="2659494">
                <a:moveTo>
                  <a:pt x="0" y="4114800"/>
                </a:moveTo>
                <a:lnTo>
                  <a:pt x="2659495" y="4114800"/>
                </a:lnTo>
                <a:lnTo>
                  <a:pt x="265949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393552" y="-117848"/>
            <a:ext cx="7315200" cy="1803417"/>
          </a:xfrm>
          <a:custGeom>
            <a:avLst/>
            <a:gdLst/>
            <a:ahLst/>
            <a:cxnLst/>
            <a:rect r="r" b="b" t="t" l="l"/>
            <a:pathLst>
              <a:path h="1803417" w="7315200">
                <a:moveTo>
                  <a:pt x="0" y="0"/>
                </a:moveTo>
                <a:lnTo>
                  <a:pt x="7315200" y="0"/>
                </a:lnTo>
                <a:lnTo>
                  <a:pt x="7315200" y="1803417"/>
                </a:lnTo>
                <a:lnTo>
                  <a:pt x="0" y="18034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73552" y="2119577"/>
            <a:ext cx="7249229" cy="7138723"/>
          </a:xfrm>
          <a:custGeom>
            <a:avLst/>
            <a:gdLst/>
            <a:ahLst/>
            <a:cxnLst/>
            <a:rect r="r" b="b" t="t" l="l"/>
            <a:pathLst>
              <a:path h="7138723" w="7249229">
                <a:moveTo>
                  <a:pt x="0" y="0"/>
                </a:moveTo>
                <a:lnTo>
                  <a:pt x="7249229" y="0"/>
                </a:lnTo>
                <a:lnTo>
                  <a:pt x="7249229" y="7138723"/>
                </a:lnTo>
                <a:lnTo>
                  <a:pt x="0" y="7138723"/>
                </a:lnTo>
                <a:lnTo>
                  <a:pt x="0" y="0"/>
                </a:lnTo>
                <a:close/>
              </a:path>
            </a:pathLst>
          </a:custGeom>
          <a:blipFill>
            <a:blip r:embed="rId6"/>
            <a:stretch>
              <a:fillRect l="0" t="0" r="0" b="0"/>
            </a:stretch>
          </a:blipFill>
        </p:spPr>
      </p:sp>
      <p:sp>
        <p:nvSpPr>
          <p:cNvPr name="TextBox 8" id="8"/>
          <p:cNvSpPr txBox="true"/>
          <p:nvPr/>
        </p:nvSpPr>
        <p:spPr>
          <a:xfrm rot="0">
            <a:off x="9517716" y="3453131"/>
            <a:ext cx="7741584" cy="3497758"/>
          </a:xfrm>
          <a:prstGeom prst="rect">
            <a:avLst/>
          </a:prstGeom>
        </p:spPr>
        <p:txBody>
          <a:bodyPr anchor="t" rtlCol="false" tIns="0" lIns="0" bIns="0" rIns="0">
            <a:spAutoFit/>
          </a:bodyPr>
          <a:lstStyle/>
          <a:p>
            <a:pPr algn="l">
              <a:lnSpc>
                <a:spcPts val="5602"/>
              </a:lnSpc>
            </a:pPr>
            <a:r>
              <a:rPr lang="en-US" sz="4001">
                <a:solidFill>
                  <a:srgbClr val="20140D"/>
                </a:solidFill>
                <a:latin typeface="DM Sans"/>
                <a:ea typeface="DM Sans"/>
                <a:cs typeface="DM Sans"/>
                <a:sym typeface="DM Sans"/>
              </a:rPr>
              <a:t>menggunakan interval [a,b] dan fungsi x^3-2x-5 dapat menghasilkan nilai x = 0 hingga x = 10 sebagai mana tertera di gambar.</a:t>
            </a:r>
          </a:p>
        </p:txBody>
      </p:sp>
      <p:sp>
        <p:nvSpPr>
          <p:cNvPr name="TextBox 9" id="9"/>
          <p:cNvSpPr txBox="true"/>
          <p:nvPr/>
        </p:nvSpPr>
        <p:spPr>
          <a:xfrm rot="0">
            <a:off x="5198166" y="313538"/>
            <a:ext cx="7705970" cy="1070521"/>
          </a:xfrm>
          <a:prstGeom prst="rect">
            <a:avLst/>
          </a:prstGeom>
        </p:spPr>
        <p:txBody>
          <a:bodyPr anchor="t" rtlCol="false" tIns="0" lIns="0" bIns="0" rIns="0">
            <a:spAutoFit/>
          </a:bodyPr>
          <a:lstStyle/>
          <a:p>
            <a:pPr algn="ctr">
              <a:lnSpc>
                <a:spcPts val="8719"/>
              </a:lnSpc>
            </a:pPr>
            <a:r>
              <a:rPr lang="en-US" sz="6228">
                <a:solidFill>
                  <a:srgbClr val="403D46"/>
                </a:solidFill>
                <a:latin typeface="Magnolia Script"/>
                <a:ea typeface="Magnolia Script"/>
                <a:cs typeface="Magnolia Script"/>
                <a:sym typeface="Magnolia Script"/>
              </a:rPr>
              <a:t>Preview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5486400" y="434883"/>
            <a:ext cx="7315200" cy="1803417"/>
          </a:xfrm>
          <a:custGeom>
            <a:avLst/>
            <a:gdLst/>
            <a:ahLst/>
            <a:cxnLst/>
            <a:rect r="r" b="b" t="t" l="l"/>
            <a:pathLst>
              <a:path h="1803417" w="7315200">
                <a:moveTo>
                  <a:pt x="0" y="0"/>
                </a:moveTo>
                <a:lnTo>
                  <a:pt x="7315200" y="0"/>
                </a:lnTo>
                <a:lnTo>
                  <a:pt x="7315200" y="1803416"/>
                </a:lnTo>
                <a:lnTo>
                  <a:pt x="0" y="18034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4900853" y="-907030"/>
            <a:ext cx="2659494" cy="4114800"/>
          </a:xfrm>
          <a:custGeom>
            <a:avLst/>
            <a:gdLst/>
            <a:ahLst/>
            <a:cxnLst/>
            <a:rect r="r" b="b" t="t" l="l"/>
            <a:pathLst>
              <a:path h="4114800" w="2659494">
                <a:moveTo>
                  <a:pt x="0" y="0"/>
                </a:moveTo>
                <a:lnTo>
                  <a:pt x="2659494" y="0"/>
                </a:lnTo>
                <a:lnTo>
                  <a:pt x="265949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5400000">
            <a:off x="560350" y="-907030"/>
            <a:ext cx="2659494" cy="4114800"/>
          </a:xfrm>
          <a:custGeom>
            <a:avLst/>
            <a:gdLst/>
            <a:ahLst/>
            <a:cxnLst/>
            <a:rect r="r" b="b" t="t" l="l"/>
            <a:pathLst>
              <a:path h="4114800" w="2659494">
                <a:moveTo>
                  <a:pt x="0" y="4114800"/>
                </a:moveTo>
                <a:lnTo>
                  <a:pt x="2659495" y="4114800"/>
                </a:lnTo>
                <a:lnTo>
                  <a:pt x="2659495"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511953" y="1336591"/>
            <a:ext cx="2152232" cy="1250686"/>
          </a:xfrm>
          <a:custGeom>
            <a:avLst/>
            <a:gdLst/>
            <a:ahLst/>
            <a:cxnLst/>
            <a:rect r="r" b="b" t="t" l="l"/>
            <a:pathLst>
              <a:path h="1250686" w="2152232">
                <a:moveTo>
                  <a:pt x="0" y="0"/>
                </a:moveTo>
                <a:lnTo>
                  <a:pt x="2152232" y="0"/>
                </a:lnTo>
                <a:lnTo>
                  <a:pt x="2152232" y="1250686"/>
                </a:lnTo>
                <a:lnTo>
                  <a:pt x="0" y="12506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23119" y="8147250"/>
            <a:ext cx="1911941" cy="1111050"/>
          </a:xfrm>
          <a:custGeom>
            <a:avLst/>
            <a:gdLst/>
            <a:ahLst/>
            <a:cxnLst/>
            <a:rect r="r" b="b" t="t" l="l"/>
            <a:pathLst>
              <a:path h="1111050" w="1911941">
                <a:moveTo>
                  <a:pt x="0" y="0"/>
                </a:moveTo>
                <a:lnTo>
                  <a:pt x="1911941" y="0"/>
                </a:lnTo>
                <a:lnTo>
                  <a:pt x="1911941" y="1111050"/>
                </a:lnTo>
                <a:lnTo>
                  <a:pt x="0" y="11110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567827" y="2480117"/>
            <a:ext cx="5837145" cy="6671023"/>
          </a:xfrm>
          <a:custGeom>
            <a:avLst/>
            <a:gdLst/>
            <a:ahLst/>
            <a:cxnLst/>
            <a:rect r="r" b="b" t="t" l="l"/>
            <a:pathLst>
              <a:path h="6671023" w="5837145">
                <a:moveTo>
                  <a:pt x="0" y="0"/>
                </a:moveTo>
                <a:lnTo>
                  <a:pt x="5837146" y="0"/>
                </a:lnTo>
                <a:lnTo>
                  <a:pt x="5837146" y="6671023"/>
                </a:lnTo>
                <a:lnTo>
                  <a:pt x="0" y="6671023"/>
                </a:lnTo>
                <a:lnTo>
                  <a:pt x="0" y="0"/>
                </a:lnTo>
                <a:close/>
              </a:path>
            </a:pathLst>
          </a:custGeom>
          <a:blipFill>
            <a:blip r:embed="rId8"/>
            <a:stretch>
              <a:fillRect l="0" t="0" r="0" b="0"/>
            </a:stretch>
          </a:blipFill>
        </p:spPr>
      </p:sp>
      <p:sp>
        <p:nvSpPr>
          <p:cNvPr name="Freeform 10" id="10"/>
          <p:cNvSpPr/>
          <p:nvPr/>
        </p:nvSpPr>
        <p:spPr>
          <a:xfrm flipH="false" flipV="false" rot="0">
            <a:off x="9144000" y="2480117"/>
            <a:ext cx="6462554" cy="6671023"/>
          </a:xfrm>
          <a:custGeom>
            <a:avLst/>
            <a:gdLst/>
            <a:ahLst/>
            <a:cxnLst/>
            <a:rect r="r" b="b" t="t" l="l"/>
            <a:pathLst>
              <a:path h="6671023" w="6462554">
                <a:moveTo>
                  <a:pt x="0" y="0"/>
                </a:moveTo>
                <a:lnTo>
                  <a:pt x="6462554" y="0"/>
                </a:lnTo>
                <a:lnTo>
                  <a:pt x="6462554" y="6671023"/>
                </a:lnTo>
                <a:lnTo>
                  <a:pt x="0" y="6671023"/>
                </a:lnTo>
                <a:lnTo>
                  <a:pt x="0" y="0"/>
                </a:lnTo>
                <a:close/>
              </a:path>
            </a:pathLst>
          </a:custGeom>
          <a:blipFill>
            <a:blip r:embed="rId9"/>
            <a:stretch>
              <a:fillRect l="0" t="0" r="0" b="0"/>
            </a:stretch>
          </a:blipFill>
        </p:spPr>
      </p:sp>
      <p:sp>
        <p:nvSpPr>
          <p:cNvPr name="TextBox 11" id="11"/>
          <p:cNvSpPr txBox="true"/>
          <p:nvPr/>
        </p:nvSpPr>
        <p:spPr>
          <a:xfrm rot="0">
            <a:off x="5291015" y="866269"/>
            <a:ext cx="7705970" cy="1070521"/>
          </a:xfrm>
          <a:prstGeom prst="rect">
            <a:avLst/>
          </a:prstGeom>
        </p:spPr>
        <p:txBody>
          <a:bodyPr anchor="t" rtlCol="false" tIns="0" lIns="0" bIns="0" rIns="0">
            <a:spAutoFit/>
          </a:bodyPr>
          <a:lstStyle/>
          <a:p>
            <a:pPr algn="ctr">
              <a:lnSpc>
                <a:spcPts val="8719"/>
              </a:lnSpc>
            </a:pPr>
            <a:r>
              <a:rPr lang="en-US" sz="6228">
                <a:solidFill>
                  <a:srgbClr val="403D46"/>
                </a:solidFill>
                <a:latin typeface="Magnolia Script"/>
                <a:ea typeface="Magnolia Script"/>
                <a:cs typeface="Magnolia Script"/>
                <a:sym typeface="Magnolia Script"/>
              </a:rPr>
              <a:t>Equation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2990850" y="3416128"/>
            <a:ext cx="12566973" cy="2233294"/>
          </a:xfrm>
          <a:prstGeom prst="rect">
            <a:avLst/>
          </a:prstGeom>
        </p:spPr>
        <p:txBody>
          <a:bodyPr anchor="t" rtlCol="false" tIns="0" lIns="0" bIns="0" rIns="0">
            <a:spAutoFit/>
          </a:bodyPr>
          <a:lstStyle/>
          <a:p>
            <a:pPr algn="l">
              <a:lnSpc>
                <a:spcPts val="4480"/>
              </a:lnSpc>
            </a:pPr>
            <a:r>
              <a:rPr lang="en-US" sz="3200">
                <a:solidFill>
                  <a:srgbClr val="20140D"/>
                </a:solidFill>
                <a:latin typeface="DM Sans"/>
                <a:ea typeface="DM Sans"/>
                <a:cs typeface="DM Sans"/>
                <a:sym typeface="DM Sans"/>
              </a:rPr>
              <a:t>equation berdasarkan sumber GeeksforGeeks (https://www.geeksforgeeks.org/program-for-bisection-method/) yang berisi mengenai koding mengenai bisection method di Python.</a:t>
            </a:r>
          </a:p>
        </p:txBody>
      </p:sp>
      <p:sp>
        <p:nvSpPr>
          <p:cNvPr name="Freeform 3" id="3"/>
          <p:cNvSpPr/>
          <p:nvPr/>
        </p:nvSpPr>
        <p:spPr>
          <a:xfrm flipH="false" flipV="true" rot="0">
            <a:off x="0" y="0"/>
            <a:ext cx="2992005" cy="3201562"/>
          </a:xfrm>
          <a:custGeom>
            <a:avLst/>
            <a:gdLst/>
            <a:ahLst/>
            <a:cxnLst/>
            <a:rect r="r" b="b" t="t" l="l"/>
            <a:pathLst>
              <a:path h="3201562" w="2992005">
                <a:moveTo>
                  <a:pt x="0" y="3201562"/>
                </a:moveTo>
                <a:lnTo>
                  <a:pt x="2992005" y="3201562"/>
                </a:lnTo>
                <a:lnTo>
                  <a:pt x="2992005" y="0"/>
                </a:lnTo>
                <a:lnTo>
                  <a:pt x="0" y="0"/>
                </a:lnTo>
                <a:lnTo>
                  <a:pt x="0" y="32015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5297150" y="7064353"/>
            <a:ext cx="3291897" cy="3522458"/>
          </a:xfrm>
          <a:custGeom>
            <a:avLst/>
            <a:gdLst/>
            <a:ahLst/>
            <a:cxnLst/>
            <a:rect r="r" b="b" t="t" l="l"/>
            <a:pathLst>
              <a:path h="3522458" w="3291897">
                <a:moveTo>
                  <a:pt x="3291897" y="0"/>
                </a:moveTo>
                <a:lnTo>
                  <a:pt x="0" y="0"/>
                </a:lnTo>
                <a:lnTo>
                  <a:pt x="0" y="3522458"/>
                </a:lnTo>
                <a:lnTo>
                  <a:pt x="3291897" y="3522458"/>
                </a:lnTo>
                <a:lnTo>
                  <a:pt x="329189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1047" y="7064353"/>
            <a:ext cx="3293053" cy="3523694"/>
          </a:xfrm>
          <a:custGeom>
            <a:avLst/>
            <a:gdLst/>
            <a:ahLst/>
            <a:cxnLst/>
            <a:rect r="r" b="b" t="t" l="l"/>
            <a:pathLst>
              <a:path h="3523694" w="3293053">
                <a:moveTo>
                  <a:pt x="0" y="0"/>
                </a:moveTo>
                <a:lnTo>
                  <a:pt x="3293052" y="0"/>
                </a:lnTo>
                <a:lnTo>
                  <a:pt x="3293052" y="3523694"/>
                </a:lnTo>
                <a:lnTo>
                  <a:pt x="0" y="3523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5297150" y="-160448"/>
            <a:ext cx="3291897" cy="3522458"/>
          </a:xfrm>
          <a:custGeom>
            <a:avLst/>
            <a:gdLst/>
            <a:ahLst/>
            <a:cxnLst/>
            <a:rect r="r" b="b" t="t" l="l"/>
            <a:pathLst>
              <a:path h="3522458" w="3291897">
                <a:moveTo>
                  <a:pt x="3291897" y="3522458"/>
                </a:moveTo>
                <a:lnTo>
                  <a:pt x="0" y="3522458"/>
                </a:lnTo>
                <a:lnTo>
                  <a:pt x="0" y="0"/>
                </a:lnTo>
                <a:lnTo>
                  <a:pt x="3291897" y="0"/>
                </a:lnTo>
                <a:lnTo>
                  <a:pt x="3291897" y="352245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297150" y="1600781"/>
            <a:ext cx="1325708" cy="770384"/>
          </a:xfrm>
          <a:custGeom>
            <a:avLst/>
            <a:gdLst/>
            <a:ahLst/>
            <a:cxnLst/>
            <a:rect r="r" b="b" t="t" l="l"/>
            <a:pathLst>
              <a:path h="770384" w="1325708">
                <a:moveTo>
                  <a:pt x="0" y="0"/>
                </a:moveTo>
                <a:lnTo>
                  <a:pt x="1325708" y="0"/>
                </a:lnTo>
                <a:lnTo>
                  <a:pt x="1325708" y="770384"/>
                </a:lnTo>
                <a:lnTo>
                  <a:pt x="0" y="770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818681" y="7979577"/>
            <a:ext cx="1455839" cy="846004"/>
          </a:xfrm>
          <a:custGeom>
            <a:avLst/>
            <a:gdLst/>
            <a:ahLst/>
            <a:cxnLst/>
            <a:rect r="r" b="b" t="t" l="l"/>
            <a:pathLst>
              <a:path h="846004" w="1455839">
                <a:moveTo>
                  <a:pt x="0" y="0"/>
                </a:moveTo>
                <a:lnTo>
                  <a:pt x="1455840" y="0"/>
                </a:lnTo>
                <a:lnTo>
                  <a:pt x="1455840" y="846005"/>
                </a:lnTo>
                <a:lnTo>
                  <a:pt x="0" y="8460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4900853" y="-907030"/>
            <a:ext cx="2659494" cy="4114800"/>
          </a:xfrm>
          <a:custGeom>
            <a:avLst/>
            <a:gdLst/>
            <a:ahLst/>
            <a:cxnLst/>
            <a:rect r="r" b="b" t="t" l="l"/>
            <a:pathLst>
              <a:path h="4114800" w="2659494">
                <a:moveTo>
                  <a:pt x="0" y="0"/>
                </a:moveTo>
                <a:lnTo>
                  <a:pt x="2659494" y="0"/>
                </a:lnTo>
                <a:lnTo>
                  <a:pt x="26594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560350" y="-907030"/>
            <a:ext cx="2659494" cy="4114800"/>
          </a:xfrm>
          <a:custGeom>
            <a:avLst/>
            <a:gdLst/>
            <a:ahLst/>
            <a:cxnLst/>
            <a:rect r="r" b="b" t="t" l="l"/>
            <a:pathLst>
              <a:path h="4114800" w="2659494">
                <a:moveTo>
                  <a:pt x="0" y="4114800"/>
                </a:moveTo>
                <a:lnTo>
                  <a:pt x="2659495" y="4114800"/>
                </a:lnTo>
                <a:lnTo>
                  <a:pt x="265949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04438" y="1646615"/>
            <a:ext cx="6660225" cy="7611685"/>
          </a:xfrm>
          <a:custGeom>
            <a:avLst/>
            <a:gdLst/>
            <a:ahLst/>
            <a:cxnLst/>
            <a:rect r="r" b="b" t="t" l="l"/>
            <a:pathLst>
              <a:path h="7611685" w="6660225">
                <a:moveTo>
                  <a:pt x="0" y="0"/>
                </a:moveTo>
                <a:lnTo>
                  <a:pt x="6660225" y="0"/>
                </a:lnTo>
                <a:lnTo>
                  <a:pt x="6660225" y="7611685"/>
                </a:lnTo>
                <a:lnTo>
                  <a:pt x="0" y="7611685"/>
                </a:lnTo>
                <a:lnTo>
                  <a:pt x="0" y="0"/>
                </a:lnTo>
                <a:close/>
              </a:path>
            </a:pathLst>
          </a:custGeom>
          <a:blipFill>
            <a:blip r:embed="rId4"/>
            <a:stretch>
              <a:fillRect l="0" t="0" r="0" b="0"/>
            </a:stretch>
          </a:blipFill>
        </p:spPr>
      </p:sp>
      <p:sp>
        <p:nvSpPr>
          <p:cNvPr name="Freeform 7" id="7"/>
          <p:cNvSpPr/>
          <p:nvPr/>
        </p:nvSpPr>
        <p:spPr>
          <a:xfrm flipH="false" flipV="false" rot="0">
            <a:off x="5393552" y="-117848"/>
            <a:ext cx="7315200" cy="1803417"/>
          </a:xfrm>
          <a:custGeom>
            <a:avLst/>
            <a:gdLst/>
            <a:ahLst/>
            <a:cxnLst/>
            <a:rect r="r" b="b" t="t" l="l"/>
            <a:pathLst>
              <a:path h="1803417" w="7315200">
                <a:moveTo>
                  <a:pt x="0" y="0"/>
                </a:moveTo>
                <a:lnTo>
                  <a:pt x="7315200" y="0"/>
                </a:lnTo>
                <a:lnTo>
                  <a:pt x="7315200" y="1803417"/>
                </a:lnTo>
                <a:lnTo>
                  <a:pt x="0" y="18034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051152" y="5018297"/>
            <a:ext cx="6931808" cy="1183184"/>
          </a:xfrm>
          <a:custGeom>
            <a:avLst/>
            <a:gdLst/>
            <a:ahLst/>
            <a:cxnLst/>
            <a:rect r="r" b="b" t="t" l="l"/>
            <a:pathLst>
              <a:path h="1183184" w="6931808">
                <a:moveTo>
                  <a:pt x="0" y="0"/>
                </a:moveTo>
                <a:lnTo>
                  <a:pt x="6931807" y="0"/>
                </a:lnTo>
                <a:lnTo>
                  <a:pt x="6931807" y="1183184"/>
                </a:lnTo>
                <a:lnTo>
                  <a:pt x="0" y="1183184"/>
                </a:lnTo>
                <a:lnTo>
                  <a:pt x="0" y="0"/>
                </a:lnTo>
                <a:close/>
              </a:path>
            </a:pathLst>
          </a:custGeom>
          <a:blipFill>
            <a:blip r:embed="rId4"/>
            <a:stretch>
              <a:fillRect l="-95316" t="-506478" r="0" b="-701275"/>
            </a:stretch>
          </a:blipFill>
        </p:spPr>
      </p:sp>
      <p:sp>
        <p:nvSpPr>
          <p:cNvPr name="Freeform 9" id="9"/>
          <p:cNvSpPr/>
          <p:nvPr/>
        </p:nvSpPr>
        <p:spPr>
          <a:xfrm flipH="false" flipV="false" rot="0">
            <a:off x="8824250" y="4925488"/>
            <a:ext cx="7769003" cy="1398421"/>
          </a:xfrm>
          <a:custGeom>
            <a:avLst/>
            <a:gdLst/>
            <a:ahLst/>
            <a:cxnLst/>
            <a:rect r="r" b="b" t="t" l="l"/>
            <a:pathLst>
              <a:path h="1398421" w="7769003">
                <a:moveTo>
                  <a:pt x="0" y="0"/>
                </a:moveTo>
                <a:lnTo>
                  <a:pt x="7769003" y="0"/>
                </a:lnTo>
                <a:lnTo>
                  <a:pt x="7769003" y="1398421"/>
                </a:lnTo>
                <a:lnTo>
                  <a:pt x="0" y="1398421"/>
                </a:lnTo>
                <a:lnTo>
                  <a:pt x="0" y="0"/>
                </a:lnTo>
                <a:close/>
              </a:path>
            </a:pathLst>
          </a:custGeom>
          <a:blipFill>
            <a:blip r:embed="rId7"/>
            <a:stretch>
              <a:fillRect l="0" t="0" r="0" b="0"/>
            </a:stretch>
          </a:blipFill>
        </p:spPr>
      </p:sp>
      <p:sp>
        <p:nvSpPr>
          <p:cNvPr name="TextBox 10" id="10"/>
          <p:cNvSpPr txBox="true"/>
          <p:nvPr/>
        </p:nvSpPr>
        <p:spPr>
          <a:xfrm rot="0">
            <a:off x="8682244" y="2546792"/>
            <a:ext cx="8294364" cy="2233294"/>
          </a:xfrm>
          <a:prstGeom prst="rect">
            <a:avLst/>
          </a:prstGeom>
        </p:spPr>
        <p:txBody>
          <a:bodyPr anchor="t" rtlCol="false" tIns="0" lIns="0" bIns="0" rIns="0">
            <a:spAutoFit/>
          </a:bodyPr>
          <a:lstStyle/>
          <a:p>
            <a:pPr algn="l">
              <a:lnSpc>
                <a:spcPts val="4480"/>
              </a:lnSpc>
            </a:pPr>
            <a:r>
              <a:rPr lang="en-US" sz="3200">
                <a:solidFill>
                  <a:srgbClr val="20140D"/>
                </a:solidFill>
                <a:latin typeface="DM Sans"/>
                <a:ea typeface="DM Sans"/>
                <a:cs typeface="DM Sans"/>
                <a:sym typeface="DM Sans"/>
              </a:rPr>
              <a:t>kode berikut telah menggunakan data generate, dimana akan mencari akar nilai x yang membuat f(x) = 0 dari fungsi :</a:t>
            </a:r>
          </a:p>
          <a:p>
            <a:pPr algn="l">
              <a:lnSpc>
                <a:spcPts val="4480"/>
              </a:lnSpc>
            </a:pPr>
          </a:p>
        </p:txBody>
      </p:sp>
      <p:sp>
        <p:nvSpPr>
          <p:cNvPr name="TextBox 11" id="11"/>
          <p:cNvSpPr txBox="true"/>
          <p:nvPr/>
        </p:nvSpPr>
        <p:spPr>
          <a:xfrm rot="0">
            <a:off x="5198166" y="313538"/>
            <a:ext cx="7705970" cy="1070521"/>
          </a:xfrm>
          <a:prstGeom prst="rect">
            <a:avLst/>
          </a:prstGeom>
        </p:spPr>
        <p:txBody>
          <a:bodyPr anchor="t" rtlCol="false" tIns="0" lIns="0" bIns="0" rIns="0">
            <a:spAutoFit/>
          </a:bodyPr>
          <a:lstStyle/>
          <a:p>
            <a:pPr algn="ctr">
              <a:lnSpc>
                <a:spcPts val="8719"/>
              </a:lnSpc>
            </a:pPr>
            <a:r>
              <a:rPr lang="en-US" sz="6228">
                <a:solidFill>
                  <a:srgbClr val="403D46"/>
                </a:solidFill>
                <a:latin typeface="Magnolia Script"/>
                <a:ea typeface="Magnolia Script"/>
                <a:cs typeface="Magnolia Script"/>
                <a:sym typeface="Magnolia Script"/>
              </a:rPr>
              <a:t>Generate data</a:t>
            </a:r>
          </a:p>
        </p:txBody>
      </p:sp>
      <p:sp>
        <p:nvSpPr>
          <p:cNvPr name="TextBox 12" id="12"/>
          <p:cNvSpPr txBox="true"/>
          <p:nvPr/>
        </p:nvSpPr>
        <p:spPr>
          <a:xfrm rot="0">
            <a:off x="8663194" y="6257234"/>
            <a:ext cx="8294364" cy="1671319"/>
          </a:xfrm>
          <a:prstGeom prst="rect">
            <a:avLst/>
          </a:prstGeom>
        </p:spPr>
        <p:txBody>
          <a:bodyPr anchor="t" rtlCol="false" tIns="0" lIns="0" bIns="0" rIns="0">
            <a:spAutoFit/>
          </a:bodyPr>
          <a:lstStyle/>
          <a:p>
            <a:pPr algn="l">
              <a:lnSpc>
                <a:spcPts val="4480"/>
              </a:lnSpc>
            </a:pPr>
            <a:r>
              <a:rPr lang="en-US" sz="3200">
                <a:solidFill>
                  <a:srgbClr val="20140D"/>
                </a:solidFill>
                <a:latin typeface="DM Sans"/>
                <a:ea typeface="DM Sans"/>
                <a:cs typeface="DM Sans"/>
                <a:sym typeface="DM Sans"/>
              </a:rPr>
              <a:t>dengan membuat 10 titik data untuk x dari 0 sampai 10 dan menghitung nilai f(x) untuk setiap nilai x</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4900853" y="-907030"/>
            <a:ext cx="2659494" cy="4114800"/>
          </a:xfrm>
          <a:custGeom>
            <a:avLst/>
            <a:gdLst/>
            <a:ahLst/>
            <a:cxnLst/>
            <a:rect r="r" b="b" t="t" l="l"/>
            <a:pathLst>
              <a:path h="4114800" w="2659494">
                <a:moveTo>
                  <a:pt x="0" y="0"/>
                </a:moveTo>
                <a:lnTo>
                  <a:pt x="2659494" y="0"/>
                </a:lnTo>
                <a:lnTo>
                  <a:pt x="26594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560350" y="-907030"/>
            <a:ext cx="2659494" cy="4114800"/>
          </a:xfrm>
          <a:custGeom>
            <a:avLst/>
            <a:gdLst/>
            <a:ahLst/>
            <a:cxnLst/>
            <a:rect r="r" b="b" t="t" l="l"/>
            <a:pathLst>
              <a:path h="4114800" w="2659494">
                <a:moveTo>
                  <a:pt x="0" y="4114800"/>
                </a:moveTo>
                <a:lnTo>
                  <a:pt x="2659495" y="4114800"/>
                </a:lnTo>
                <a:lnTo>
                  <a:pt x="265949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393552" y="-117848"/>
            <a:ext cx="7315200" cy="1803417"/>
          </a:xfrm>
          <a:custGeom>
            <a:avLst/>
            <a:gdLst/>
            <a:ahLst/>
            <a:cxnLst/>
            <a:rect r="r" b="b" t="t" l="l"/>
            <a:pathLst>
              <a:path h="1803417" w="7315200">
                <a:moveTo>
                  <a:pt x="0" y="0"/>
                </a:moveTo>
                <a:lnTo>
                  <a:pt x="7315200" y="0"/>
                </a:lnTo>
                <a:lnTo>
                  <a:pt x="7315200" y="1803417"/>
                </a:lnTo>
                <a:lnTo>
                  <a:pt x="0" y="18034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1807988"/>
            <a:ext cx="7217489" cy="7450312"/>
          </a:xfrm>
          <a:custGeom>
            <a:avLst/>
            <a:gdLst/>
            <a:ahLst/>
            <a:cxnLst/>
            <a:rect r="r" b="b" t="t" l="l"/>
            <a:pathLst>
              <a:path h="7450312" w="7217489">
                <a:moveTo>
                  <a:pt x="0" y="0"/>
                </a:moveTo>
                <a:lnTo>
                  <a:pt x="7217489" y="0"/>
                </a:lnTo>
                <a:lnTo>
                  <a:pt x="7217489" y="7450312"/>
                </a:lnTo>
                <a:lnTo>
                  <a:pt x="0" y="7450312"/>
                </a:lnTo>
                <a:lnTo>
                  <a:pt x="0" y="0"/>
                </a:lnTo>
                <a:close/>
              </a:path>
            </a:pathLst>
          </a:custGeom>
          <a:blipFill>
            <a:blip r:embed="rId6"/>
            <a:stretch>
              <a:fillRect l="0" t="0" r="0" b="0"/>
            </a:stretch>
          </a:blipFill>
        </p:spPr>
      </p:sp>
      <p:sp>
        <p:nvSpPr>
          <p:cNvPr name="Freeform 8" id="8"/>
          <p:cNvSpPr/>
          <p:nvPr/>
        </p:nvSpPr>
        <p:spPr>
          <a:xfrm flipH="false" flipV="false" rot="0">
            <a:off x="8663194" y="5143500"/>
            <a:ext cx="9013111" cy="1498430"/>
          </a:xfrm>
          <a:custGeom>
            <a:avLst/>
            <a:gdLst/>
            <a:ahLst/>
            <a:cxnLst/>
            <a:rect r="r" b="b" t="t" l="l"/>
            <a:pathLst>
              <a:path h="1498430" w="9013111">
                <a:moveTo>
                  <a:pt x="0" y="0"/>
                </a:moveTo>
                <a:lnTo>
                  <a:pt x="9013111" y="0"/>
                </a:lnTo>
                <a:lnTo>
                  <a:pt x="9013111" y="1498430"/>
                </a:lnTo>
                <a:lnTo>
                  <a:pt x="0" y="1498430"/>
                </a:lnTo>
                <a:lnTo>
                  <a:pt x="0" y="0"/>
                </a:lnTo>
                <a:close/>
              </a:path>
            </a:pathLst>
          </a:custGeom>
          <a:blipFill>
            <a:blip r:embed="rId7"/>
            <a:stretch>
              <a:fillRect l="0" t="0" r="0" b="0"/>
            </a:stretch>
          </a:blipFill>
        </p:spPr>
      </p:sp>
      <p:sp>
        <p:nvSpPr>
          <p:cNvPr name="TextBox 9" id="9"/>
          <p:cNvSpPr txBox="true"/>
          <p:nvPr/>
        </p:nvSpPr>
        <p:spPr>
          <a:xfrm rot="0">
            <a:off x="8663194" y="2546792"/>
            <a:ext cx="8294364" cy="1671319"/>
          </a:xfrm>
          <a:prstGeom prst="rect">
            <a:avLst/>
          </a:prstGeom>
        </p:spPr>
        <p:txBody>
          <a:bodyPr anchor="t" rtlCol="false" tIns="0" lIns="0" bIns="0" rIns="0">
            <a:spAutoFit/>
          </a:bodyPr>
          <a:lstStyle/>
          <a:p>
            <a:pPr algn="l">
              <a:lnSpc>
                <a:spcPts val="4480"/>
              </a:lnSpc>
            </a:pPr>
            <a:r>
              <a:rPr lang="en-US" sz="3200">
                <a:solidFill>
                  <a:srgbClr val="20140D"/>
                </a:solidFill>
                <a:latin typeface="DM Sans"/>
                <a:ea typeface="DM Sans"/>
                <a:cs typeface="DM Sans"/>
                <a:sym typeface="DM Sans"/>
              </a:rPr>
              <a:t>menggunakan interval [a,b] dimana syarat bisection f(a) dan f(b) memiliki nilai yang berbanding terbalik (GeeksforGeeks, n.d.)</a:t>
            </a:r>
          </a:p>
        </p:txBody>
      </p:sp>
      <p:sp>
        <p:nvSpPr>
          <p:cNvPr name="TextBox 10" id="10"/>
          <p:cNvSpPr txBox="true"/>
          <p:nvPr/>
        </p:nvSpPr>
        <p:spPr>
          <a:xfrm rot="0">
            <a:off x="5198166" y="313538"/>
            <a:ext cx="7705970" cy="1070521"/>
          </a:xfrm>
          <a:prstGeom prst="rect">
            <a:avLst/>
          </a:prstGeom>
        </p:spPr>
        <p:txBody>
          <a:bodyPr anchor="t" rtlCol="false" tIns="0" lIns="0" bIns="0" rIns="0">
            <a:spAutoFit/>
          </a:bodyPr>
          <a:lstStyle/>
          <a:p>
            <a:pPr algn="ctr">
              <a:lnSpc>
                <a:spcPts val="8719"/>
              </a:lnSpc>
            </a:pPr>
            <a:r>
              <a:rPr lang="en-US" sz="6228">
                <a:solidFill>
                  <a:srgbClr val="403D46"/>
                </a:solidFill>
                <a:latin typeface="Magnolia Script"/>
                <a:ea typeface="Magnolia Script"/>
                <a:cs typeface="Magnolia Script"/>
                <a:sym typeface="Magnolia Script"/>
              </a:rPr>
              <a:t>Generate data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4900853" y="-907030"/>
            <a:ext cx="2659494" cy="4114800"/>
          </a:xfrm>
          <a:custGeom>
            <a:avLst/>
            <a:gdLst/>
            <a:ahLst/>
            <a:cxnLst/>
            <a:rect r="r" b="b" t="t" l="l"/>
            <a:pathLst>
              <a:path h="4114800" w="2659494">
                <a:moveTo>
                  <a:pt x="0" y="0"/>
                </a:moveTo>
                <a:lnTo>
                  <a:pt x="2659494" y="0"/>
                </a:lnTo>
                <a:lnTo>
                  <a:pt x="26594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560350" y="-907030"/>
            <a:ext cx="2659494" cy="4114800"/>
          </a:xfrm>
          <a:custGeom>
            <a:avLst/>
            <a:gdLst/>
            <a:ahLst/>
            <a:cxnLst/>
            <a:rect r="r" b="b" t="t" l="l"/>
            <a:pathLst>
              <a:path h="4114800" w="2659494">
                <a:moveTo>
                  <a:pt x="0" y="4114800"/>
                </a:moveTo>
                <a:lnTo>
                  <a:pt x="2659495" y="4114800"/>
                </a:lnTo>
                <a:lnTo>
                  <a:pt x="265949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393552" y="-117848"/>
            <a:ext cx="7315200" cy="1803417"/>
          </a:xfrm>
          <a:custGeom>
            <a:avLst/>
            <a:gdLst/>
            <a:ahLst/>
            <a:cxnLst/>
            <a:rect r="r" b="b" t="t" l="l"/>
            <a:pathLst>
              <a:path h="1803417" w="7315200">
                <a:moveTo>
                  <a:pt x="0" y="0"/>
                </a:moveTo>
                <a:lnTo>
                  <a:pt x="7315200" y="0"/>
                </a:lnTo>
                <a:lnTo>
                  <a:pt x="7315200" y="1803417"/>
                </a:lnTo>
                <a:lnTo>
                  <a:pt x="0" y="18034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057400" y="2489275"/>
            <a:ext cx="5390624" cy="5308450"/>
          </a:xfrm>
          <a:custGeom>
            <a:avLst/>
            <a:gdLst/>
            <a:ahLst/>
            <a:cxnLst/>
            <a:rect r="r" b="b" t="t" l="l"/>
            <a:pathLst>
              <a:path h="5308450" w="5390624">
                <a:moveTo>
                  <a:pt x="0" y="0"/>
                </a:moveTo>
                <a:lnTo>
                  <a:pt x="5390624" y="0"/>
                </a:lnTo>
                <a:lnTo>
                  <a:pt x="5390624" y="5308450"/>
                </a:lnTo>
                <a:lnTo>
                  <a:pt x="0" y="5308450"/>
                </a:lnTo>
                <a:lnTo>
                  <a:pt x="0" y="0"/>
                </a:lnTo>
                <a:close/>
              </a:path>
            </a:pathLst>
          </a:custGeom>
          <a:blipFill>
            <a:blip r:embed="rId6"/>
            <a:stretch>
              <a:fillRect l="0" t="0" r="0" b="0"/>
            </a:stretch>
          </a:blipFill>
        </p:spPr>
      </p:sp>
      <p:sp>
        <p:nvSpPr>
          <p:cNvPr name="Freeform 8" id="8"/>
          <p:cNvSpPr/>
          <p:nvPr/>
        </p:nvSpPr>
        <p:spPr>
          <a:xfrm flipH="false" flipV="false" rot="0">
            <a:off x="7886868" y="4745856"/>
            <a:ext cx="6286332" cy="3999679"/>
          </a:xfrm>
          <a:custGeom>
            <a:avLst/>
            <a:gdLst/>
            <a:ahLst/>
            <a:cxnLst/>
            <a:rect r="r" b="b" t="t" l="l"/>
            <a:pathLst>
              <a:path h="3999679" w="6286332">
                <a:moveTo>
                  <a:pt x="0" y="0"/>
                </a:moveTo>
                <a:lnTo>
                  <a:pt x="6286332" y="0"/>
                </a:lnTo>
                <a:lnTo>
                  <a:pt x="6286332" y="3999679"/>
                </a:lnTo>
                <a:lnTo>
                  <a:pt x="0" y="3999679"/>
                </a:lnTo>
                <a:lnTo>
                  <a:pt x="0" y="0"/>
                </a:lnTo>
                <a:close/>
              </a:path>
            </a:pathLst>
          </a:custGeom>
          <a:blipFill>
            <a:blip r:embed="rId7"/>
            <a:stretch>
              <a:fillRect l="0" t="0" r="0" b="0"/>
            </a:stretch>
          </a:blipFill>
        </p:spPr>
      </p:sp>
      <p:sp>
        <p:nvSpPr>
          <p:cNvPr name="TextBox 9" id="9"/>
          <p:cNvSpPr txBox="true"/>
          <p:nvPr/>
        </p:nvSpPr>
        <p:spPr>
          <a:xfrm rot="0">
            <a:off x="8663194" y="2546792"/>
            <a:ext cx="8294364" cy="1671319"/>
          </a:xfrm>
          <a:prstGeom prst="rect">
            <a:avLst/>
          </a:prstGeom>
        </p:spPr>
        <p:txBody>
          <a:bodyPr anchor="t" rtlCol="false" tIns="0" lIns="0" bIns="0" rIns="0">
            <a:spAutoFit/>
          </a:bodyPr>
          <a:lstStyle/>
          <a:p>
            <a:pPr algn="l">
              <a:lnSpc>
                <a:spcPts val="4480"/>
              </a:lnSpc>
            </a:pPr>
            <a:r>
              <a:rPr lang="en-US" sz="3200">
                <a:solidFill>
                  <a:srgbClr val="20140D"/>
                </a:solidFill>
                <a:latin typeface="DM Sans"/>
                <a:ea typeface="DM Sans"/>
                <a:cs typeface="DM Sans"/>
                <a:sym typeface="DM Sans"/>
              </a:rPr>
              <a:t>menggunakan interval [a,b] dan fungsi x^3-2x-5 dapat menghasilkan nilai x = 0 hingga x = 10 sebagai mana tertera di gambar.</a:t>
            </a:r>
          </a:p>
        </p:txBody>
      </p:sp>
      <p:sp>
        <p:nvSpPr>
          <p:cNvPr name="TextBox 10" id="10"/>
          <p:cNvSpPr txBox="true"/>
          <p:nvPr/>
        </p:nvSpPr>
        <p:spPr>
          <a:xfrm rot="0">
            <a:off x="5198166" y="313538"/>
            <a:ext cx="7705970" cy="1070521"/>
          </a:xfrm>
          <a:prstGeom prst="rect">
            <a:avLst/>
          </a:prstGeom>
        </p:spPr>
        <p:txBody>
          <a:bodyPr anchor="t" rtlCol="false" tIns="0" lIns="0" bIns="0" rIns="0">
            <a:spAutoFit/>
          </a:bodyPr>
          <a:lstStyle/>
          <a:p>
            <a:pPr algn="ctr">
              <a:lnSpc>
                <a:spcPts val="8719"/>
              </a:lnSpc>
            </a:pPr>
            <a:r>
              <a:rPr lang="en-US" sz="6228">
                <a:solidFill>
                  <a:srgbClr val="403D46"/>
                </a:solidFill>
                <a:latin typeface="Magnolia Script"/>
                <a:ea typeface="Magnolia Script"/>
                <a:cs typeface="Magnolia Script"/>
                <a:sym typeface="Magnolia Script"/>
              </a:rPr>
              <a:t>Hasil</a:t>
            </a:r>
          </a:p>
        </p:txBody>
      </p:sp>
      <p:sp>
        <p:nvSpPr>
          <p:cNvPr name="TextBox 11" id="11"/>
          <p:cNvSpPr txBox="true"/>
          <p:nvPr/>
        </p:nvSpPr>
        <p:spPr>
          <a:xfrm rot="0">
            <a:off x="14581251" y="5485323"/>
            <a:ext cx="3298697" cy="1109344"/>
          </a:xfrm>
          <a:prstGeom prst="rect">
            <a:avLst/>
          </a:prstGeom>
        </p:spPr>
        <p:txBody>
          <a:bodyPr anchor="t" rtlCol="false" tIns="0" lIns="0" bIns="0" rIns="0">
            <a:spAutoFit/>
          </a:bodyPr>
          <a:lstStyle/>
          <a:p>
            <a:pPr algn="l">
              <a:lnSpc>
                <a:spcPts val="4480"/>
              </a:lnSpc>
            </a:pPr>
            <a:r>
              <a:rPr lang="en-US" sz="3200">
                <a:solidFill>
                  <a:srgbClr val="20140D"/>
                </a:solidFill>
                <a:latin typeface="DM Sans"/>
                <a:ea typeface="DM Sans"/>
                <a:cs typeface="DM Sans"/>
                <a:sym typeface="DM Sans"/>
              </a:rPr>
              <a:t>beserta visualisasinya.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4000129" y="2937690"/>
            <a:ext cx="10452553" cy="3357244"/>
          </a:xfrm>
          <a:prstGeom prst="rect">
            <a:avLst/>
          </a:prstGeom>
        </p:spPr>
        <p:txBody>
          <a:bodyPr anchor="t" rtlCol="false" tIns="0" lIns="0" bIns="0" rIns="0">
            <a:spAutoFit/>
          </a:bodyPr>
          <a:lstStyle/>
          <a:p>
            <a:pPr algn="just">
              <a:lnSpc>
                <a:spcPts val="4480"/>
              </a:lnSpc>
            </a:pPr>
            <a:r>
              <a:rPr lang="en-US" sz="3200">
                <a:solidFill>
                  <a:srgbClr val="20140D"/>
                </a:solidFill>
                <a:latin typeface="DM Sans"/>
                <a:ea typeface="DM Sans"/>
                <a:cs typeface="DM Sans"/>
                <a:sym typeface="DM Sans"/>
              </a:rPr>
              <a:t>berdasarkan dari data generate menggunakan bisection method dengan fungsi f(x) = x^3 - 2x - 5 kita dapat menghasilkan data nilai f(x) dari x = 0 hingga x = 10 serta memvisualisasikannya dengan pemilihan interval [2, 2.5] yang memenuhi asumsi. hasil dari bisection method diperoleh akar yang mendekati nilai :</a:t>
            </a:r>
          </a:p>
        </p:txBody>
      </p:sp>
      <p:sp>
        <p:nvSpPr>
          <p:cNvPr name="Freeform 3" id="3"/>
          <p:cNvSpPr/>
          <p:nvPr/>
        </p:nvSpPr>
        <p:spPr>
          <a:xfrm flipH="false" flipV="false" rot="0">
            <a:off x="5568806" y="838200"/>
            <a:ext cx="7315200" cy="1803417"/>
          </a:xfrm>
          <a:custGeom>
            <a:avLst/>
            <a:gdLst/>
            <a:ahLst/>
            <a:cxnLst/>
            <a:rect r="r" b="b" t="t" l="l"/>
            <a:pathLst>
              <a:path h="1803417" w="7315200">
                <a:moveTo>
                  <a:pt x="0" y="0"/>
                </a:moveTo>
                <a:lnTo>
                  <a:pt x="7315200" y="0"/>
                </a:lnTo>
                <a:lnTo>
                  <a:pt x="7315200" y="1803417"/>
                </a:lnTo>
                <a:lnTo>
                  <a:pt x="0" y="180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0" y="0"/>
            <a:ext cx="2992005" cy="3201562"/>
          </a:xfrm>
          <a:custGeom>
            <a:avLst/>
            <a:gdLst/>
            <a:ahLst/>
            <a:cxnLst/>
            <a:rect r="r" b="b" t="t" l="l"/>
            <a:pathLst>
              <a:path h="3201562" w="2992005">
                <a:moveTo>
                  <a:pt x="0" y="3201562"/>
                </a:moveTo>
                <a:lnTo>
                  <a:pt x="2992005" y="3201562"/>
                </a:lnTo>
                <a:lnTo>
                  <a:pt x="2992005" y="0"/>
                </a:lnTo>
                <a:lnTo>
                  <a:pt x="0" y="0"/>
                </a:lnTo>
                <a:lnTo>
                  <a:pt x="0" y="32015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5297150" y="7064353"/>
            <a:ext cx="3291897" cy="3522458"/>
          </a:xfrm>
          <a:custGeom>
            <a:avLst/>
            <a:gdLst/>
            <a:ahLst/>
            <a:cxnLst/>
            <a:rect r="r" b="b" t="t" l="l"/>
            <a:pathLst>
              <a:path h="3522458" w="3291897">
                <a:moveTo>
                  <a:pt x="3291897" y="0"/>
                </a:moveTo>
                <a:lnTo>
                  <a:pt x="0" y="0"/>
                </a:lnTo>
                <a:lnTo>
                  <a:pt x="0" y="3522458"/>
                </a:lnTo>
                <a:lnTo>
                  <a:pt x="3291897" y="3522458"/>
                </a:lnTo>
                <a:lnTo>
                  <a:pt x="329189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01047" y="7064353"/>
            <a:ext cx="3293053" cy="3523694"/>
          </a:xfrm>
          <a:custGeom>
            <a:avLst/>
            <a:gdLst/>
            <a:ahLst/>
            <a:cxnLst/>
            <a:rect r="r" b="b" t="t" l="l"/>
            <a:pathLst>
              <a:path h="3523694" w="3293053">
                <a:moveTo>
                  <a:pt x="0" y="0"/>
                </a:moveTo>
                <a:lnTo>
                  <a:pt x="3293052" y="0"/>
                </a:lnTo>
                <a:lnTo>
                  <a:pt x="3293052" y="3523694"/>
                </a:lnTo>
                <a:lnTo>
                  <a:pt x="0" y="35236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297150" y="-160448"/>
            <a:ext cx="3291897" cy="3522458"/>
          </a:xfrm>
          <a:custGeom>
            <a:avLst/>
            <a:gdLst/>
            <a:ahLst/>
            <a:cxnLst/>
            <a:rect r="r" b="b" t="t" l="l"/>
            <a:pathLst>
              <a:path h="3522458" w="3291897">
                <a:moveTo>
                  <a:pt x="3291897" y="3522458"/>
                </a:moveTo>
                <a:lnTo>
                  <a:pt x="0" y="3522458"/>
                </a:lnTo>
                <a:lnTo>
                  <a:pt x="0" y="0"/>
                </a:lnTo>
                <a:lnTo>
                  <a:pt x="3291897" y="0"/>
                </a:lnTo>
                <a:lnTo>
                  <a:pt x="3291897" y="352245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465281" y="1600781"/>
            <a:ext cx="1157577" cy="672681"/>
          </a:xfrm>
          <a:custGeom>
            <a:avLst/>
            <a:gdLst/>
            <a:ahLst/>
            <a:cxnLst/>
            <a:rect r="r" b="b" t="t" l="l"/>
            <a:pathLst>
              <a:path h="672681" w="1157577">
                <a:moveTo>
                  <a:pt x="0" y="0"/>
                </a:moveTo>
                <a:lnTo>
                  <a:pt x="1157577" y="0"/>
                </a:lnTo>
                <a:lnTo>
                  <a:pt x="1157577" y="672681"/>
                </a:lnTo>
                <a:lnTo>
                  <a:pt x="0" y="6726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818681" y="8143750"/>
            <a:ext cx="1173324" cy="681832"/>
          </a:xfrm>
          <a:custGeom>
            <a:avLst/>
            <a:gdLst/>
            <a:ahLst/>
            <a:cxnLst/>
            <a:rect r="r" b="b" t="t" l="l"/>
            <a:pathLst>
              <a:path h="681832" w="1173324">
                <a:moveTo>
                  <a:pt x="0" y="0"/>
                </a:moveTo>
                <a:lnTo>
                  <a:pt x="1173324" y="0"/>
                </a:lnTo>
                <a:lnTo>
                  <a:pt x="1173324" y="681832"/>
                </a:lnTo>
                <a:lnTo>
                  <a:pt x="0" y="6818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4394687" y="6950198"/>
            <a:ext cx="9663438" cy="1875384"/>
          </a:xfrm>
          <a:custGeom>
            <a:avLst/>
            <a:gdLst/>
            <a:ahLst/>
            <a:cxnLst/>
            <a:rect r="r" b="b" t="t" l="l"/>
            <a:pathLst>
              <a:path h="1875384" w="9663438">
                <a:moveTo>
                  <a:pt x="0" y="0"/>
                </a:moveTo>
                <a:lnTo>
                  <a:pt x="9663437" y="0"/>
                </a:lnTo>
                <a:lnTo>
                  <a:pt x="9663437" y="1875384"/>
                </a:lnTo>
                <a:lnTo>
                  <a:pt x="0" y="1875384"/>
                </a:lnTo>
                <a:lnTo>
                  <a:pt x="0" y="0"/>
                </a:lnTo>
                <a:close/>
              </a:path>
            </a:pathLst>
          </a:custGeom>
          <a:blipFill>
            <a:blip r:embed="rId10"/>
            <a:stretch>
              <a:fillRect l="0" t="0" r="0" b="0"/>
            </a:stretch>
          </a:blipFill>
        </p:spPr>
      </p:sp>
      <p:sp>
        <p:nvSpPr>
          <p:cNvPr name="TextBox 11" id="11"/>
          <p:cNvSpPr txBox="true"/>
          <p:nvPr/>
        </p:nvSpPr>
        <p:spPr>
          <a:xfrm rot="0">
            <a:off x="5403994" y="1079456"/>
            <a:ext cx="7442689" cy="1185489"/>
          </a:xfrm>
          <a:prstGeom prst="rect">
            <a:avLst/>
          </a:prstGeom>
        </p:spPr>
        <p:txBody>
          <a:bodyPr anchor="t" rtlCol="false" tIns="0" lIns="0" bIns="0" rIns="0">
            <a:spAutoFit/>
          </a:bodyPr>
          <a:lstStyle/>
          <a:p>
            <a:pPr algn="ctr">
              <a:lnSpc>
                <a:spcPts val="9733"/>
              </a:lnSpc>
            </a:pPr>
            <a:r>
              <a:rPr lang="en-US" sz="6952">
                <a:solidFill>
                  <a:srgbClr val="20140D"/>
                </a:solidFill>
                <a:latin typeface="Magnolia Script"/>
                <a:ea typeface="Magnolia Script"/>
                <a:cs typeface="Magnolia Script"/>
                <a:sym typeface="Magnolia Script"/>
              </a:rPr>
              <a:t>Kesimpulan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3268533" y="1982758"/>
            <a:ext cx="11750934" cy="7089009"/>
          </a:xfrm>
          <a:custGeom>
            <a:avLst/>
            <a:gdLst/>
            <a:ahLst/>
            <a:cxnLst/>
            <a:rect r="r" b="b" t="t" l="l"/>
            <a:pathLst>
              <a:path h="7089009" w="11750934">
                <a:moveTo>
                  <a:pt x="0" y="0"/>
                </a:moveTo>
                <a:lnTo>
                  <a:pt x="11750934" y="0"/>
                </a:lnTo>
                <a:lnTo>
                  <a:pt x="11750934" y="7089009"/>
                </a:lnTo>
                <a:lnTo>
                  <a:pt x="0" y="7089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950882" y="2955513"/>
            <a:ext cx="6773134" cy="2571750"/>
          </a:xfrm>
          <a:prstGeom prst="rect">
            <a:avLst/>
          </a:prstGeom>
        </p:spPr>
        <p:txBody>
          <a:bodyPr anchor="t" rtlCol="false" tIns="0" lIns="0" bIns="0" rIns="0">
            <a:spAutoFit/>
          </a:bodyPr>
          <a:lstStyle/>
          <a:p>
            <a:pPr algn="ctr">
              <a:lnSpc>
                <a:spcPts val="21000"/>
              </a:lnSpc>
            </a:pPr>
            <a:r>
              <a:rPr lang="en-US" sz="15000">
                <a:solidFill>
                  <a:srgbClr val="403D46"/>
                </a:solidFill>
                <a:latin typeface="Magnolia Script"/>
                <a:ea typeface="Magnolia Script"/>
                <a:cs typeface="Magnolia Script"/>
                <a:sym typeface="Magnolia Script"/>
              </a:rPr>
              <a:t>Terima</a:t>
            </a:r>
          </a:p>
        </p:txBody>
      </p:sp>
      <p:sp>
        <p:nvSpPr>
          <p:cNvPr name="TextBox 4" id="4"/>
          <p:cNvSpPr txBox="true"/>
          <p:nvPr/>
        </p:nvSpPr>
        <p:spPr>
          <a:xfrm rot="0">
            <a:off x="6316015" y="4857750"/>
            <a:ext cx="6042868" cy="2571750"/>
          </a:xfrm>
          <a:prstGeom prst="rect">
            <a:avLst/>
          </a:prstGeom>
        </p:spPr>
        <p:txBody>
          <a:bodyPr anchor="t" rtlCol="false" tIns="0" lIns="0" bIns="0" rIns="0">
            <a:spAutoFit/>
          </a:bodyPr>
          <a:lstStyle/>
          <a:p>
            <a:pPr algn="ctr">
              <a:lnSpc>
                <a:spcPts val="21000"/>
              </a:lnSpc>
            </a:pPr>
            <a:r>
              <a:rPr lang="en-US" sz="15000">
                <a:solidFill>
                  <a:srgbClr val="403D46"/>
                </a:solidFill>
                <a:latin typeface="Magnolia Script"/>
                <a:ea typeface="Magnolia Script"/>
                <a:cs typeface="Magnolia Script"/>
                <a:sym typeface="Magnolia Script"/>
              </a:rPr>
              <a:t>Kasih</a:t>
            </a:r>
          </a:p>
        </p:txBody>
      </p:sp>
      <p:sp>
        <p:nvSpPr>
          <p:cNvPr name="Freeform 5" id="5"/>
          <p:cNvSpPr/>
          <p:nvPr/>
        </p:nvSpPr>
        <p:spPr>
          <a:xfrm flipH="true" flipV="false" rot="-5400000">
            <a:off x="14900853" y="7200900"/>
            <a:ext cx="2659494" cy="4114800"/>
          </a:xfrm>
          <a:custGeom>
            <a:avLst/>
            <a:gdLst/>
            <a:ahLst/>
            <a:cxnLst/>
            <a:rect r="r" b="b" t="t" l="l"/>
            <a:pathLst>
              <a:path h="4114800" w="2659494">
                <a:moveTo>
                  <a:pt x="2659494" y="0"/>
                </a:moveTo>
                <a:lnTo>
                  <a:pt x="0" y="0"/>
                </a:lnTo>
                <a:lnTo>
                  <a:pt x="0" y="4114800"/>
                </a:lnTo>
                <a:lnTo>
                  <a:pt x="2659494" y="4114800"/>
                </a:lnTo>
                <a:lnTo>
                  <a:pt x="26594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301047" y="-362526"/>
            <a:ext cx="3845468" cy="4114800"/>
          </a:xfrm>
          <a:custGeom>
            <a:avLst/>
            <a:gdLst/>
            <a:ahLst/>
            <a:cxnLst/>
            <a:rect r="r" b="b" t="t" l="l"/>
            <a:pathLst>
              <a:path h="4114800" w="3845468">
                <a:moveTo>
                  <a:pt x="0" y="4114800"/>
                </a:moveTo>
                <a:lnTo>
                  <a:pt x="3845467" y="4114800"/>
                </a:lnTo>
                <a:lnTo>
                  <a:pt x="3845467"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4743580" y="-362526"/>
            <a:ext cx="3845468" cy="4114800"/>
          </a:xfrm>
          <a:custGeom>
            <a:avLst/>
            <a:gdLst/>
            <a:ahLst/>
            <a:cxnLst/>
            <a:rect r="r" b="b" t="t" l="l"/>
            <a:pathLst>
              <a:path h="4114800" w="3845468">
                <a:moveTo>
                  <a:pt x="3845467" y="4114800"/>
                </a:moveTo>
                <a:lnTo>
                  <a:pt x="0" y="4114800"/>
                </a:lnTo>
                <a:lnTo>
                  <a:pt x="0" y="0"/>
                </a:lnTo>
                <a:lnTo>
                  <a:pt x="3845467" y="0"/>
                </a:lnTo>
                <a:lnTo>
                  <a:pt x="3845467"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true" rot="-5400000">
            <a:off x="727653" y="7200900"/>
            <a:ext cx="2659494" cy="4114800"/>
          </a:xfrm>
          <a:custGeom>
            <a:avLst/>
            <a:gdLst/>
            <a:ahLst/>
            <a:cxnLst/>
            <a:rect r="r" b="b" t="t" l="l"/>
            <a:pathLst>
              <a:path h="4114800" w="2659494">
                <a:moveTo>
                  <a:pt x="2659494" y="4114800"/>
                </a:moveTo>
                <a:lnTo>
                  <a:pt x="0" y="4114800"/>
                </a:lnTo>
                <a:lnTo>
                  <a:pt x="0" y="0"/>
                </a:lnTo>
                <a:lnTo>
                  <a:pt x="2659494" y="0"/>
                </a:lnTo>
                <a:lnTo>
                  <a:pt x="2659494"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853146" y="2283277"/>
            <a:ext cx="2152232" cy="1250686"/>
          </a:xfrm>
          <a:custGeom>
            <a:avLst/>
            <a:gdLst/>
            <a:ahLst/>
            <a:cxnLst/>
            <a:rect r="r" b="b" t="t" l="l"/>
            <a:pathLst>
              <a:path h="1250686" w="2152232">
                <a:moveTo>
                  <a:pt x="0" y="0"/>
                </a:moveTo>
                <a:lnTo>
                  <a:pt x="2152232" y="0"/>
                </a:lnTo>
                <a:lnTo>
                  <a:pt x="2152232" y="1250686"/>
                </a:lnTo>
                <a:lnTo>
                  <a:pt x="0" y="1250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544420" y="6677867"/>
            <a:ext cx="2152232" cy="1250686"/>
          </a:xfrm>
          <a:custGeom>
            <a:avLst/>
            <a:gdLst/>
            <a:ahLst/>
            <a:cxnLst/>
            <a:rect r="r" b="b" t="t" l="l"/>
            <a:pathLst>
              <a:path h="1250686" w="2152232">
                <a:moveTo>
                  <a:pt x="0" y="0"/>
                </a:moveTo>
                <a:lnTo>
                  <a:pt x="2152233" y="0"/>
                </a:lnTo>
                <a:lnTo>
                  <a:pt x="2152233" y="1250686"/>
                </a:lnTo>
                <a:lnTo>
                  <a:pt x="0" y="1250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DAGmRL8iBDk</dc:identifier>
  <dcterms:modified xsi:type="dcterms:W3CDTF">2011-08-01T06:04:30Z</dcterms:modified>
  <cp:revision>1</cp:revision>
  <dc:title>Metode Numerik</dc:title>
</cp:coreProperties>
</file>